
<file path=[Content_Types].xml><?xml version="1.0" encoding="utf-8"?>
<Types xmlns="http://schemas.openxmlformats.org/package/2006/content-types">
  <Default Extension="png" ContentType="image/png"/>
  <Default Extension="wdp" ContentType="image/vnd.ms-photo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3"/>
  </p:sldIdLst>
  <p:sldSz cx="12192000" cy="6858000"/>
  <p:notesSz cx="6858000" cy="9144000"/>
  <p:custDataLst>
    <p:tags r:id="rId8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206plus" initials="2" lastIdx="1" clrIdx="0"/>
  <p:cmAuthor id="1483810881" name="WPS_1679281038" initials="W" lastIdx="1" clrIdx="2"/>
  <p:cmAuthor id="1" name="Jianfeng Wang （王建锋）" initials="JW（" lastIdx="1" clrIdx="0"/>
  <p:cmAuthor id="8" name="Zhenglue_Wen" initials="Z" lastIdx="1" clrIdx="7"/>
  <p:cmAuthor id="2" name="zhou shu" initials="zs" lastIdx="5" clrIdx="1"/>
  <p:cmAuthor id="9" name="Administrator" initials="A" lastIdx="1" clrIdx="8"/>
  <p:cmAuthor id="3" name="孙正启" initials="szq" lastIdx="5" clrIdx="2"/>
  <p:cmAuthor id="4" name="zhou_shu" initials="z" lastIdx="1" clrIdx="3"/>
  <p:cmAuthor id="5" name="周澍" initials="周" lastIdx="1" clrIdx="4"/>
  <p:cmAuthor id="75" name="作者" initials="A" lastIdx="0" clrIdx="2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57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8.xml"/><Relationship Id="rId7" Type="http://schemas.openxmlformats.org/officeDocument/2006/relationships/commentAuthors" Target="commentAuthors.xml"/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image2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版面2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1"/>
            <a:ext cx="12192000" cy="648000"/>
          </a:xfrm>
          <a:prstGeom prst="rect">
            <a:avLst/>
          </a:prstGeom>
          <a:gradFill>
            <a:gsLst>
              <a:gs pos="47000">
                <a:srgbClr val="133B44"/>
              </a:gs>
              <a:gs pos="10000">
                <a:srgbClr val="13686D">
                  <a:lumMod val="98000"/>
                  <a:lumOff val="2000"/>
                </a:srgbClr>
              </a:gs>
              <a:gs pos="78000">
                <a:srgbClr val="162836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biLevel thresh="2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977150" y="108001"/>
            <a:ext cx="2086988" cy="432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21"/>
          <p:cNvSpPr txBox="1"/>
          <p:nvPr/>
        </p:nvSpPr>
        <p:spPr>
          <a:xfrm>
            <a:off x="-635" y="-6985"/>
            <a:ext cx="10105390" cy="647700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+mj-cs"/>
              </a:defRPr>
            </a:lvl1pPr>
          </a:lstStyle>
          <a:p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“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项目号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”VDA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弯曲角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性能</a:t>
            </a:r>
            <a:endParaRPr lang="zh-CN" altLang="en-US" b="1" dirty="0">
              <a:latin typeface="微软雅黑 Light" panose="020B0502040204020203" pitchFamily="34" charset="-122"/>
              <a:ea typeface="微软雅黑 Light" panose="020B0502040204020203" pitchFamily="34" charset="-122"/>
              <a:cs typeface="+mn-cs"/>
            </a:endParaRPr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275590" y="806450"/>
          <a:ext cx="5945505" cy="57429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9790"/>
                <a:gridCol w="631825"/>
                <a:gridCol w="794407"/>
                <a:gridCol w="1087790"/>
                <a:gridCol w="1062990"/>
                <a:gridCol w="770255"/>
              </a:tblGrid>
              <a:tr h="496570">
                <a:tc>
                  <a:txBody>
                    <a:bodyPr/>
                    <a:p>
                      <a:pPr marL="0" marR="0" algn="ctr" defTabSz="914400" rtl="0" eaLnBrk="1" latinLnBrk="0" hangingPunct="1"/>
                      <a:r>
                        <a:rPr lang="zh-CN" altLang="en-US" sz="1400" kern="100" dirty="0">
                          <a:solidFill>
                            <a:schemeClr val="bg1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  <a:cs typeface="+mn-cs"/>
                        </a:rPr>
                        <a:t>试样</a:t>
                      </a:r>
                      <a:endParaRPr lang="zh-CN" altLang="en-US" sz="1400" kern="100" dirty="0">
                        <a:solidFill>
                          <a:schemeClr val="bg1"/>
                        </a:solidFill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+mn-cs"/>
                      </a:endParaRPr>
                    </a:p>
                  </a:txBody>
                  <a:tcPr marL="0" marR="0" marT="0" marB="0" anchor="ctr" anchorCtr="0">
                    <a:solidFill>
                      <a:srgbClr val="19898D"/>
                    </a:solidFill>
                  </a:tcPr>
                </a:tc>
                <a:tc>
                  <a:txBody>
                    <a:bodyPr/>
                    <a:p>
                      <a:pPr marL="0" marR="0" algn="ctr"/>
                      <a:r>
                        <a:rPr lang="zh-CN" altLang="en-US" sz="1400" kern="100" dirty="0">
                          <a:solidFill>
                            <a:schemeClr val="bg1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</a:rPr>
                        <a:t>编号</a:t>
                      </a:r>
                      <a:endParaRPr lang="zh-CN" altLang="en-US" sz="1400" kern="100" dirty="0">
                        <a:solidFill>
                          <a:schemeClr val="bg1"/>
                        </a:solidFill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 anchorCtr="0">
                    <a:solidFill>
                      <a:srgbClr val="19898D"/>
                    </a:solidFill>
                  </a:tcPr>
                </a:tc>
                <a:tc>
                  <a:txBody>
                    <a:bodyPr/>
                    <a:p>
                      <a:pPr marL="0" marR="0" algn="ctr"/>
                      <a:r>
                        <a:rPr lang="zh-CN" altLang="en-US" sz="1400" kern="100" dirty="0">
                          <a:solidFill>
                            <a:schemeClr val="bg1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厚度</a:t>
                      </a:r>
                      <a:endParaRPr lang="en-US" altLang="zh-CN" sz="1400" kern="100" dirty="0">
                        <a:solidFill>
                          <a:schemeClr val="bg1"/>
                        </a:solidFill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  <a:p>
                      <a:pPr marL="0" marR="0" algn="ctr"/>
                      <a:r>
                        <a:rPr lang="en-US" sz="1400" kern="100" dirty="0">
                          <a:solidFill>
                            <a:schemeClr val="bg1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mm</a:t>
                      </a:r>
                      <a:endParaRPr lang="en-US" sz="1400" kern="100" dirty="0">
                        <a:solidFill>
                          <a:schemeClr val="bg1"/>
                        </a:solidFill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19898D"/>
                    </a:solidFill>
                  </a:tcPr>
                </a:tc>
                <a:tc>
                  <a:txBody>
                    <a:bodyPr/>
                    <a:p>
                      <a:pPr marL="0" marR="0" algn="ctr"/>
                      <a:r>
                        <a:rPr lang="zh-CN" altLang="en-US" sz="1400" kern="100" dirty="0">
                          <a:solidFill>
                            <a:schemeClr val="bg1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最大力</a:t>
                      </a:r>
                      <a:endParaRPr lang="en-US" altLang="zh-CN" sz="1400" kern="100" dirty="0">
                        <a:solidFill>
                          <a:schemeClr val="bg1"/>
                        </a:solidFill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  <a:p>
                      <a:pPr marL="0" marR="0" algn="ctr"/>
                      <a:r>
                        <a:rPr lang="en-US" altLang="zh-CN" sz="1400" kern="100" dirty="0">
                          <a:solidFill>
                            <a:schemeClr val="bg1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kN</a:t>
                      </a:r>
                      <a:endParaRPr lang="en-US" altLang="zh-CN" sz="1400" kern="100" dirty="0">
                        <a:solidFill>
                          <a:schemeClr val="bg1"/>
                        </a:solidFill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19898D"/>
                    </a:solidFill>
                  </a:tcPr>
                </a:tc>
                <a:tc>
                  <a:txBody>
                    <a:bodyPr/>
                    <a:p>
                      <a:pPr marL="0" marR="0" algn="ctr"/>
                      <a:r>
                        <a:rPr lang="zh-CN" altLang="en-US" sz="1400" kern="100" dirty="0">
                          <a:solidFill>
                            <a:schemeClr val="bg1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最大力变形</a:t>
                      </a:r>
                      <a:endParaRPr lang="en-US" altLang="zh-CN" sz="1400" kern="100" dirty="0">
                        <a:solidFill>
                          <a:schemeClr val="bg1"/>
                        </a:solidFill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  <a:p>
                      <a:pPr marL="0" marR="0" algn="ctr"/>
                      <a:r>
                        <a:rPr lang="en-US" altLang="zh-CN" sz="1400" kern="100" dirty="0">
                          <a:solidFill>
                            <a:schemeClr val="bg1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mm</a:t>
                      </a:r>
                      <a:endParaRPr lang="en-US" altLang="zh-CN" sz="1400" kern="100" dirty="0">
                        <a:solidFill>
                          <a:schemeClr val="bg1"/>
                        </a:solidFill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19898D"/>
                    </a:solidFill>
                  </a:tcPr>
                </a:tc>
                <a:tc>
                  <a:txBody>
                    <a:bodyPr/>
                    <a:p>
                      <a:pPr marL="0" marR="0" algn="ctr" fontAlgn="ctr"/>
                      <a:r>
                        <a:rPr lang="zh-CN" altLang="en-US" sz="1400" kern="0" dirty="0">
                          <a:solidFill>
                            <a:schemeClr val="bg1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</a:rPr>
                        <a:t>角度</a:t>
                      </a:r>
                      <a:endParaRPr lang="zh-CN" altLang="en-US" sz="1400" kern="100" dirty="0">
                        <a:solidFill>
                          <a:schemeClr val="bg1"/>
                        </a:solidFill>
                        <a:effectLst/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marL="0" marR="0" algn="ctr" fontAlgn="ctr"/>
                      <a:r>
                        <a:rPr lang="en-US" altLang="zh-CN" sz="1400" kern="0" dirty="0">
                          <a:solidFill>
                            <a:schemeClr val="bg1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</a:rPr>
                        <a:t>°</a:t>
                      </a:r>
                      <a:endParaRPr lang="en-US" altLang="zh-CN" sz="1400" kern="0" dirty="0">
                        <a:solidFill>
                          <a:schemeClr val="bg1"/>
                        </a:solidFill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 anchorCtr="0">
                    <a:solidFill>
                      <a:srgbClr val="19898D"/>
                    </a:solidFill>
                  </a:tcPr>
                </a:tc>
              </a:tr>
              <a:tr h="328295">
                <a:tc rowSpan="4">
                  <a:txBody>
                    <a:bodyPr/>
                    <a:p>
                      <a:pPr algn="ctr"/>
                      <a:endParaRPr lang="en-US" altLang="zh-CN" sz="1400" b="0" dirty="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0" marR="0" algn="ctr" fontAlgn="t"/>
                      <a:endParaRPr lang="en-US" sz="1400" b="0" kern="0" dirty="0"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1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</a:tr>
              <a:tr h="327660">
                <a:tc vMerge="1">
                  <a:tcPr/>
                </a:tc>
                <a:tc>
                  <a:txBody>
                    <a:bodyPr/>
                    <a:p>
                      <a:pPr marL="0" marR="0" algn="ctr" fontAlgn="t">
                        <a:buNone/>
                      </a:pPr>
                      <a:endParaRPr lang="en-US" altLang="en-US" sz="1400" b="0" kern="0" dirty="0"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1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</a:tr>
              <a:tr h="327660">
                <a:tc vMerge="1">
                  <a:tcPr/>
                </a:tc>
                <a:tc>
                  <a:txBody>
                    <a:bodyPr/>
                    <a:p>
                      <a:pPr marL="0" marR="0" algn="ctr" fontAlgn="t"/>
                      <a:endParaRPr lang="en-US" sz="1400" b="0" kern="100" dirty="0"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1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</a:tr>
              <a:tr h="327660">
                <a:tc vMerge="1">
                  <a:tcPr/>
                </a:tc>
                <a:tc gridSpan="2">
                  <a:txBody>
                    <a:bodyPr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kern="0" dirty="0" err="1">
                          <a:solidFill>
                            <a:srgbClr val="19898D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平均值</a:t>
                      </a:r>
                      <a:r>
                        <a:rPr lang="zh-CN" altLang="en-US" sz="1400" b="0" kern="0" dirty="0">
                          <a:solidFill>
                            <a:srgbClr val="19898D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±标准差</a:t>
                      </a:r>
                      <a:endParaRPr lang="en-US" altLang="zh-CN" sz="1400" b="0" kern="0" dirty="0">
                        <a:solidFill>
                          <a:srgbClr val="19898D"/>
                        </a:solidFill>
                        <a:effectLst/>
                        <a:latin typeface="微软雅黑" panose="020B0503020204020204" charset="-122"/>
                        <a:ea typeface="微软雅黑" panose="020B0503020204020204" charset="-122"/>
                        <a:sym typeface="+mn-ea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 hMerge="1">
                  <a:tcPr marL="68580" marR="68580" marT="0" marB="0" anchor="ctr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</a:tr>
              <a:tr h="328295">
                <a:tc rowSpan="4">
                  <a:txBody>
                    <a:bodyPr/>
                    <a:p>
                      <a:pPr algn="ctr"/>
                      <a:endParaRPr lang="en-US" altLang="zh-CN" sz="1400" b="0" dirty="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0" marR="0" algn="ctr" fontAlgn="t"/>
                      <a:endParaRPr lang="en-US" sz="1400" b="0" kern="0" dirty="0"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1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</a:tr>
              <a:tr h="328295">
                <a:tc vMerge="1">
                  <a:tcPr/>
                </a:tc>
                <a:tc>
                  <a:txBody>
                    <a:bodyPr/>
                    <a:p>
                      <a:pPr marL="0" marR="0" algn="ctr" fontAlgn="t">
                        <a:buNone/>
                      </a:pPr>
                      <a:endParaRPr lang="en-US" altLang="en-US" sz="1400" b="0" kern="0" dirty="0"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1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</a:tr>
              <a:tr h="327025">
                <a:tc vMerge="1">
                  <a:tcPr/>
                </a:tc>
                <a:tc>
                  <a:txBody>
                    <a:bodyPr/>
                    <a:p>
                      <a:pPr marL="0" marR="0" algn="ctr" fontAlgn="t"/>
                      <a:endParaRPr lang="en-US" sz="1400" b="0" kern="0" dirty="0"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1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</a:tr>
              <a:tr h="328295">
                <a:tc vMerge="1">
                  <a:tcPr marL="68580" marR="68580" anchor="ctr" anchorCtr="1">
                    <a:solidFill>
                      <a:srgbClr val="E6F0F2"/>
                    </a:solidFill>
                  </a:tcPr>
                </a:tc>
                <a:tc gridSpan="2">
                  <a:txBody>
                    <a:bodyPr/>
                    <a:p>
                      <a:pPr marL="0" marR="0" algn="ctr" font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1400" b="0" kern="0" dirty="0" err="1">
                          <a:solidFill>
                            <a:srgbClr val="19898D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平均值</a:t>
                      </a:r>
                      <a:r>
                        <a:rPr lang="zh-CN" altLang="en-US" sz="1400" b="0" kern="0" dirty="0">
                          <a:solidFill>
                            <a:srgbClr val="19898D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±标准差</a:t>
                      </a:r>
                      <a:endParaRPr lang="en-US" altLang="zh-CN" sz="1400" b="0" kern="0" dirty="0" err="1">
                        <a:solidFill>
                          <a:srgbClr val="19898D"/>
                        </a:solidFill>
                        <a:effectLst/>
                        <a:latin typeface="微软雅黑" panose="020B0503020204020204" charset="-122"/>
                        <a:ea typeface="微软雅黑" panose="020B0503020204020204" charset="-122"/>
                        <a:sym typeface="+mn-ea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 hMerge="1">
                  <a:tcPr marL="68580" marR="68580" anchor="ctr" anchorCtr="1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</a:tr>
              <a:tr h="328295">
                <a:tc rowSpan="4">
                  <a:txBody>
                    <a:bodyPr/>
                    <a:p>
                      <a:pPr algn="ctr"/>
                      <a:endParaRPr lang="en-US" altLang="zh-CN" sz="1400" b="0" dirty="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0" marR="0" algn="ctr" fontAlgn="t"/>
                      <a:endParaRPr lang="en-US" sz="1400" b="0" kern="0" dirty="0"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1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</a:tr>
              <a:tr h="327660">
                <a:tc vMerge="1">
                  <a:tcPr/>
                </a:tc>
                <a:tc>
                  <a:txBody>
                    <a:bodyPr/>
                    <a:p>
                      <a:pPr marL="0" marR="0" algn="ctr" fontAlgn="t">
                        <a:buNone/>
                      </a:pPr>
                      <a:endParaRPr lang="en-US" altLang="en-US" sz="1400" b="0" kern="0" dirty="0"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1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</a:tr>
              <a:tr h="327660">
                <a:tc vMerge="1">
                  <a:tcPr marL="68580" marR="68580" anchor="ctr" anchorCtr="1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0" marR="0" algn="ctr" fontAlgn="t"/>
                      <a:endParaRPr lang="en-US" sz="1400" b="0" kern="100" dirty="0"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1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</a:tr>
              <a:tr h="327660">
                <a:tc vMerge="1">
                  <a:tcPr/>
                </a:tc>
                <a:tc gridSpan="2">
                  <a:txBody>
                    <a:bodyPr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kern="0" dirty="0" err="1">
                          <a:solidFill>
                            <a:srgbClr val="19898D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平均值</a:t>
                      </a:r>
                      <a:r>
                        <a:rPr lang="zh-CN" altLang="en-US" sz="1400" b="0" kern="0" dirty="0">
                          <a:solidFill>
                            <a:srgbClr val="19898D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±标准差</a:t>
                      </a:r>
                      <a:endParaRPr lang="en-US" altLang="zh-CN" sz="1400" b="0" kern="0" dirty="0">
                        <a:solidFill>
                          <a:srgbClr val="19898D"/>
                        </a:solidFill>
                        <a:effectLst/>
                        <a:latin typeface="微软雅黑" panose="020B0503020204020204" charset="-122"/>
                        <a:ea typeface="微软雅黑" panose="020B0503020204020204" charset="-122"/>
                        <a:sym typeface="+mn-ea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 hMerge="1">
                  <a:tcPr marL="68580" marR="68580" marT="0" marB="0" anchor="ctr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</a:tr>
              <a:tr h="328295">
                <a:tc rowSpan="4">
                  <a:txBody>
                    <a:bodyPr/>
                    <a:p>
                      <a:pPr algn="ctr"/>
                      <a:endParaRPr lang="en-US" altLang="zh-CN" sz="1400" b="0" dirty="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0" marR="0" algn="ctr" fontAlgn="t"/>
                      <a:endParaRPr lang="en-US" sz="1400" b="0" kern="0" dirty="0"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1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</a:tr>
              <a:tr h="328295">
                <a:tc vMerge="1">
                  <a:tcPr/>
                </a:tc>
                <a:tc>
                  <a:txBody>
                    <a:bodyPr/>
                    <a:p>
                      <a:pPr marL="0" marR="0" algn="ctr" fontAlgn="t">
                        <a:buNone/>
                      </a:pPr>
                      <a:endParaRPr lang="en-US" altLang="en-US" sz="1400" b="0" kern="0" dirty="0"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1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</a:tr>
              <a:tr h="327025">
                <a:tc vMerge="1">
                  <a:tcPr marL="68580" marR="68580" anchor="ctr" anchorCtr="1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0" marR="0" algn="ctr" fontAlgn="t"/>
                      <a:endParaRPr lang="en-US" sz="1400" b="0" kern="0" dirty="0">
                        <a:effectLst/>
                        <a:latin typeface="微软雅黑" panose="020B0503020204020204" charset="-122"/>
                        <a:ea typeface="微软雅黑" panose="020B0503020204020204" charset="-122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t"/>
                      <a:endParaRPr lang="en-US" altLang="zh-CN" sz="14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ctr" fontAlgn="ctr"/>
                      <a:endParaRPr lang="en-US" altLang="zh-CN" sz="1400" b="1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</a:tr>
              <a:tr h="328295">
                <a:tc vMerge="1">
                  <a:tcPr marL="68580" marR="68580" anchor="ctr" anchorCtr="1">
                    <a:solidFill>
                      <a:srgbClr val="E6F0F2"/>
                    </a:solidFill>
                  </a:tcPr>
                </a:tc>
                <a:tc gridSpan="2">
                  <a:txBody>
                    <a:bodyPr/>
                    <a:p>
                      <a:pPr marL="0" marR="0" algn="ctr" font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1400" b="0" kern="0" dirty="0" err="1">
                          <a:solidFill>
                            <a:srgbClr val="19898D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平均值</a:t>
                      </a:r>
                      <a:r>
                        <a:rPr lang="zh-CN" altLang="en-US" sz="1400" b="0" kern="0" dirty="0" err="1">
                          <a:solidFill>
                            <a:srgbClr val="19898D"/>
                          </a:solidFill>
                          <a:effectLst/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±标准差</a:t>
                      </a:r>
                      <a:endParaRPr lang="en-US" altLang="zh-CN" sz="1400" b="0" kern="0" dirty="0" err="1">
                        <a:solidFill>
                          <a:srgbClr val="19898D"/>
                        </a:solidFill>
                        <a:effectLst/>
                        <a:latin typeface="微软雅黑" panose="020B0503020204020204" charset="-122"/>
                        <a:ea typeface="微软雅黑" panose="020B0503020204020204" charset="-122"/>
                        <a:sym typeface="+mn-ea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 hMerge="1">
                  <a:tcPr marL="68580" marR="68580" anchor="ctr" anchorCtr="1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l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l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  <a:tc>
                  <a:txBody>
                    <a:bodyPr/>
                    <a:p>
                      <a:pPr marL="7620" indent="0" algn="l" fontAlgn="ctr"/>
                      <a:endParaRPr lang="en-US" altLang="zh-CN" sz="1400" b="0" i="0">
                        <a:solidFill>
                          <a:srgbClr val="19898D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 anchorCtr="0">
                    <a:solidFill>
                      <a:srgbClr val="E6F0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7.xml><?xml version="1.0" encoding="utf-8"?>
<p:tagLst xmlns:p="http://schemas.openxmlformats.org/presentationml/2006/main">
  <p:tag name="TABLE_ENDDRAG_ORIGIN_RECT" val="458*452"/>
  <p:tag name="TABLE_ENDDRAG_RECT" val="21*63*458*452"/>
</p:tagLst>
</file>

<file path=ppt/tags/tag8.xml><?xml version="1.0" encoding="utf-8"?>
<p:tagLst xmlns:p="http://schemas.openxmlformats.org/presentationml/2006/main">
  <p:tag name="commondata" val="eyJoZGlkIjoiMDg4OWYyZDk2MzQyZDBkNTMxMmE3ZDQ4ZDFjNTY3YTMifQ=="/>
</p:tagLst>
</file>

<file path=ppt/theme/theme1.xml><?xml version="1.0" encoding="utf-8"?>
<a:theme xmlns:a="http://schemas.openxmlformats.org/drawingml/2006/main" name="1_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92</Words>
  <Application>WPS 演示</Application>
  <PresentationFormat>宽屏</PresentationFormat>
  <Paragraphs>34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1" baseType="lpstr">
      <vt:lpstr>Arial</vt:lpstr>
      <vt:lpstr>宋体</vt:lpstr>
      <vt:lpstr>Wingdings</vt:lpstr>
      <vt:lpstr>Wingdings</vt:lpstr>
      <vt:lpstr>微软雅黑</vt:lpstr>
      <vt:lpstr>微软雅黑 Light</vt:lpstr>
      <vt:lpstr>Times New Roman</vt:lpstr>
      <vt:lpstr>Arial Unicode MS</vt:lpstr>
      <vt:lpstr>Calibri</vt:lpstr>
      <vt:lpstr>1_WPS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张桢</cp:lastModifiedBy>
  <cp:revision>163</cp:revision>
  <dcterms:created xsi:type="dcterms:W3CDTF">2019-06-19T02:08:00Z</dcterms:created>
  <dcterms:modified xsi:type="dcterms:W3CDTF">2026-01-16T08:03:58Z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2052-12.1.0.17133</vt:lpwstr>
  </property>
  <property fmtid="{D5CDD505-2E9C-101B-9397-08002B2CF9AE}" pid="3" name="ICV">
    <vt:lpwstr>13707AB05907405DBABE9D72DFA7A583_13</vt:lpwstr>
  </property>
</Properties>
</file>